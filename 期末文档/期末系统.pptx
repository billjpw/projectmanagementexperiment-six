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2" r:id="rId3"/>
    <p:sldId id="257" r:id="rId4"/>
    <p:sldId id="263" r:id="rId5"/>
    <p:sldId id="264" r:id="rId6"/>
    <p:sldId id="261" r:id="rId7"/>
    <p:sldId id="258" r:id="rId8"/>
    <p:sldId id="259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76" y="40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2026/4/23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t="-63000" b="-6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2026/4/23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375018" y="1575593"/>
            <a:ext cx="6341371" cy="1053657"/>
          </a:xfrm>
        </p:spPr>
        <p:txBody>
          <a:bodyPr/>
          <a:lstStyle/>
          <a:p>
            <a:r>
              <a:rPr lang="zh-CN" altLang="en-US" dirty="0"/>
              <a:t>茶铺管理系统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323793" y="3163217"/>
            <a:ext cx="4300690" cy="531566"/>
          </a:xfrm>
        </p:spPr>
        <p:txBody>
          <a:bodyPr>
            <a:normAutofit/>
          </a:bodyPr>
          <a:lstStyle/>
          <a:p>
            <a:r>
              <a:rPr lang="zh-CN" altLang="en-US" dirty="0"/>
              <a:t>进度计划＋质量计划系统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9F7A16-B0FD-14BC-B319-23302870D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734" y="197498"/>
            <a:ext cx="2204248" cy="740051"/>
          </a:xfrm>
        </p:spPr>
        <p:txBody>
          <a:bodyPr/>
          <a:lstStyle/>
          <a:p>
            <a:r>
              <a:rPr lang="zh-CN" altLang="en-US" dirty="0"/>
              <a:t>奶茶锐评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BAE5E0-3DF4-C56E-5D78-DCBD3CA3E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734" y="1096861"/>
            <a:ext cx="4368714" cy="5222916"/>
          </a:xfrm>
        </p:spPr>
        <p:txBody>
          <a:bodyPr>
            <a:normAutofit lnSpcReduction="10000"/>
          </a:bodyPr>
          <a:lstStyle/>
          <a:p>
            <a:r>
              <a:rPr lang="zh-CN" altLang="en-US" b="1" dirty="0"/>
              <a:t>奶茶 </a:t>
            </a:r>
            <a:r>
              <a:rPr lang="en-US" altLang="zh-CN" b="1" dirty="0"/>
              <a:t>/ </a:t>
            </a:r>
            <a:r>
              <a:rPr lang="zh-CN" altLang="en-US" b="1" dirty="0"/>
              <a:t>茶饮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蜜雪冰城、古茗、霸王茶姬、喜茶、茶百道、奈雪的茶、沪上阿姨、茶颜悦色、书亦烧仙草、茉莉奶白、</a:t>
            </a:r>
            <a:r>
              <a:rPr lang="en-US" altLang="zh-CN" dirty="0" err="1"/>
              <a:t>CoCo</a:t>
            </a:r>
            <a:r>
              <a:rPr lang="en-US" altLang="zh-CN" dirty="0"/>
              <a:t> </a:t>
            </a:r>
            <a:r>
              <a:rPr lang="zh-CN" altLang="en-US" dirty="0"/>
              <a:t>都可、一点点、益禾堂、柠季、爷爷不泡茶</a:t>
            </a:r>
          </a:p>
          <a:p>
            <a:r>
              <a:rPr lang="zh-CN" altLang="en-US" b="1" dirty="0"/>
              <a:t>咖啡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瑞幸、库迪、幸运咖、星巴克、</a:t>
            </a:r>
            <a:r>
              <a:rPr lang="en-US" altLang="zh-CN" dirty="0"/>
              <a:t>MANNER</a:t>
            </a:r>
            <a:r>
              <a:rPr lang="zh-CN" altLang="en-US" dirty="0"/>
              <a:t>、</a:t>
            </a:r>
            <a:r>
              <a:rPr lang="en-US" altLang="zh-CN" dirty="0"/>
              <a:t>NOWWA </a:t>
            </a:r>
            <a:r>
              <a:rPr lang="zh-CN" altLang="en-US" dirty="0"/>
              <a:t>挪瓦、</a:t>
            </a:r>
            <a:r>
              <a:rPr lang="en-US" altLang="zh-CN" dirty="0"/>
              <a:t>COSTA</a:t>
            </a:r>
          </a:p>
          <a:p>
            <a:r>
              <a:rPr lang="zh-CN" altLang="en-US" b="1" dirty="0"/>
              <a:t>酸奶 </a:t>
            </a:r>
            <a:r>
              <a:rPr lang="en-US" altLang="zh-CN" b="1" dirty="0"/>
              <a:t>/ </a:t>
            </a:r>
            <a:r>
              <a:rPr lang="zh-CN" altLang="en-US" b="1" dirty="0"/>
              <a:t>新中式饮品 </a:t>
            </a:r>
            <a:r>
              <a:rPr lang="en-US" altLang="zh-CN" b="1" dirty="0"/>
              <a:t>/ </a:t>
            </a:r>
            <a:r>
              <a:rPr lang="zh-CN" altLang="en-US" b="1" dirty="0"/>
              <a:t>酒酿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正邦苏卡、茉酸奶、伟伟冰酒酿、</a:t>
            </a:r>
            <a:r>
              <a:rPr lang="en-US" altLang="zh-CN" dirty="0" err="1"/>
              <a:t>Blueglass</a:t>
            </a:r>
            <a:r>
              <a:rPr lang="zh-CN" altLang="en-US" dirty="0"/>
              <a:t>、李若桃</a:t>
            </a:r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04763A4-4983-FF4F-F668-A04C436D9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763691"/>
              </p:ext>
            </p:extLst>
          </p:nvPr>
        </p:nvGraphicFramePr>
        <p:xfrm>
          <a:off x="4745620" y="393539"/>
          <a:ext cx="7089494" cy="6209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44747">
                  <a:extLst>
                    <a:ext uri="{9D8B030D-6E8A-4147-A177-3AD203B41FA5}">
                      <a16:colId xmlns:a16="http://schemas.microsoft.com/office/drawing/2014/main" val="1713297207"/>
                    </a:ext>
                  </a:extLst>
                </a:gridCol>
                <a:gridCol w="3544747">
                  <a:extLst>
                    <a:ext uri="{9D8B030D-6E8A-4147-A177-3AD203B41FA5}">
                      <a16:colId xmlns:a16="http://schemas.microsoft.com/office/drawing/2014/main" val="4161357483"/>
                    </a:ext>
                  </a:extLst>
                </a:gridCol>
              </a:tblGrid>
              <a:tr h="1241963">
                <a:tc>
                  <a:txBody>
                    <a:bodyPr/>
                    <a:lstStyle/>
                    <a:p>
                      <a:r>
                        <a:rPr lang="zh-CN" altLang="en-US" dirty="0"/>
                        <a:t>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1" dirty="0"/>
                        <a:t>蜜雪冰城</a:t>
                      </a:r>
                      <a:r>
                        <a:rPr lang="zh-CN" altLang="en-US" dirty="0"/>
                        <a:t>，卡旺卡</a:t>
                      </a:r>
                      <a:endParaRPr lang="en-US" altLang="zh-CN" dirty="0"/>
                    </a:p>
                    <a:p>
                      <a:r>
                        <a:rPr lang="zh-CN" altLang="en-US" dirty="0"/>
                        <a:t>一点点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681612"/>
                  </a:ext>
                </a:extLst>
              </a:tr>
              <a:tr h="1241963">
                <a:tc>
                  <a:txBody>
                    <a:bodyPr/>
                    <a:lstStyle/>
                    <a:p>
                      <a:r>
                        <a:rPr lang="zh-CN" altLang="en-US" dirty="0"/>
                        <a:t>顶级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瑞幸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5510040"/>
                  </a:ext>
                </a:extLst>
              </a:tr>
              <a:tr h="1241963">
                <a:tc>
                  <a:txBody>
                    <a:bodyPr/>
                    <a:lstStyle/>
                    <a:p>
                      <a:r>
                        <a:rPr lang="zh-CN" altLang="en-US" dirty="0"/>
                        <a:t>人上人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CoCo</a:t>
                      </a:r>
                      <a:r>
                        <a:rPr lang="en-US" altLang="zh-CN" dirty="0"/>
                        <a:t> </a:t>
                      </a:r>
                      <a:r>
                        <a:rPr lang="zh-CN" altLang="en-US" dirty="0"/>
                        <a:t>都可，霸王茶姬，爷爷不泡茶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4937585"/>
                  </a:ext>
                </a:extLst>
              </a:tr>
              <a:tr h="1241963">
                <a:tc>
                  <a:txBody>
                    <a:bodyPr/>
                    <a:lstStyle/>
                    <a:p>
                      <a:r>
                        <a:rPr lang="en-US" altLang="zh-CN" dirty="0"/>
                        <a:t>NPC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书亦烧仙草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6834308"/>
                  </a:ext>
                </a:extLst>
              </a:tr>
              <a:tr h="1241963">
                <a:tc>
                  <a:txBody>
                    <a:bodyPr/>
                    <a:lstStyle/>
                    <a:p>
                      <a:r>
                        <a:rPr lang="zh-CN" altLang="en-US" dirty="0"/>
                        <a:t>拉完了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星巴克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5070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789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390518" y="296553"/>
            <a:ext cx="3533300" cy="559974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选择计划的理由</a:t>
            </a:r>
            <a:endParaRPr lang="zh-CN" altLang="zh-CN" sz="32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765433" y="1374456"/>
            <a:ext cx="9582079" cy="1193932"/>
          </a:xfrm>
        </p:spPr>
        <p:txBody>
          <a:bodyPr>
            <a:noAutofit/>
          </a:bodyPr>
          <a:lstStyle/>
          <a:p>
            <a:pPr algn="l"/>
            <a:r>
              <a:rPr lang="zh-CN" altLang="en-US" sz="2800" dirty="0">
                <a:solidFill>
                  <a:schemeClr val="tx1"/>
                </a:solidFill>
              </a:rPr>
              <a:t>在软件项目管理中，我们有几大知识领域，包括进度管理、质量管理、成本管理、风险管理等等。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l"/>
            <a:r>
              <a:rPr lang="zh-CN" altLang="en-US" sz="2800" dirty="0">
                <a:solidFill>
                  <a:schemeClr val="tx1"/>
                </a:solidFill>
              </a:rPr>
              <a:t>经过仔细分析我的项目需求</a:t>
            </a:r>
            <a:r>
              <a:rPr lang="en-US" altLang="zh-CN" sz="2800" dirty="0">
                <a:solidFill>
                  <a:schemeClr val="tx1"/>
                </a:solidFill>
              </a:rPr>
              <a:t>——</a:t>
            </a:r>
            <a:r>
              <a:rPr lang="zh-CN" altLang="en-US" sz="2800" dirty="0">
                <a:solidFill>
                  <a:schemeClr val="tx1"/>
                </a:solidFill>
              </a:rPr>
              <a:t>一个奶茶店项目管理系统，我选择了“进度计划 </a:t>
            </a:r>
            <a:r>
              <a:rPr lang="en-US" altLang="zh-CN" sz="2800" dirty="0">
                <a:solidFill>
                  <a:schemeClr val="tx1"/>
                </a:solidFill>
              </a:rPr>
              <a:t>+ </a:t>
            </a:r>
            <a:r>
              <a:rPr lang="zh-CN" altLang="en-US" sz="2800" dirty="0">
                <a:solidFill>
                  <a:schemeClr val="tx1"/>
                </a:solidFill>
              </a:rPr>
              <a:t>质量计划 ” 的组合方案。为什么选择这两个计划？首先，我的系统核心是项目管理</a:t>
            </a:r>
            <a:r>
              <a:rPr lang="en-US" altLang="zh-CN" sz="2800" dirty="0">
                <a:solidFill>
                  <a:schemeClr val="tx1"/>
                </a:solidFill>
              </a:rPr>
              <a:t>+</a:t>
            </a:r>
            <a:r>
              <a:rPr lang="zh-CN" altLang="en-US" sz="2800" dirty="0">
                <a:solidFill>
                  <a:schemeClr val="tx1"/>
                </a:solidFill>
              </a:rPr>
              <a:t>任务管理，这本身就属于进度计划的范畴。其次，作为门店管理系统，任务完成的质量直接影响到门店的正常运营，所以我们必须把好质量关。那么，质量计划中最核心的一个方法是什么呢？答案就是</a:t>
            </a:r>
            <a:r>
              <a:rPr lang="en-US" altLang="zh-CN" sz="2800" dirty="0">
                <a:solidFill>
                  <a:schemeClr val="tx1"/>
                </a:solidFill>
              </a:rPr>
              <a:t>—— </a:t>
            </a:r>
            <a:r>
              <a:rPr lang="zh-CN" altLang="en-US" sz="2800" dirty="0">
                <a:solidFill>
                  <a:schemeClr val="tx1"/>
                </a:solidFill>
              </a:rPr>
              <a:t>评审 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72395A-55C2-0169-E656-115BD8110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100" y="238606"/>
            <a:ext cx="2706300" cy="669070"/>
          </a:xfrm>
        </p:spPr>
        <p:txBody>
          <a:bodyPr>
            <a:normAutofit/>
          </a:bodyPr>
          <a:lstStyle/>
          <a:p>
            <a:r>
              <a:rPr lang="zh-CN" altLang="en-US" dirty="0"/>
              <a:t>什么是评审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6505E7-F400-00CC-8D73-41B75FFD8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59" y="1052311"/>
            <a:ext cx="10391295" cy="556708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zh-CN" altLang="en-US" sz="6200" dirty="0">
                <a:solidFill>
                  <a:schemeClr val="tx1"/>
                </a:solidFill>
              </a:rPr>
              <a:t>评审是对项目或任务的成果进行系统性检查和评估的过程。</a:t>
            </a:r>
          </a:p>
          <a:p>
            <a:pPr marL="0" indent="0">
              <a:buNone/>
            </a:pPr>
            <a:r>
              <a:rPr lang="zh-CN" altLang="en-US" sz="6200" dirty="0">
                <a:solidFill>
                  <a:schemeClr val="tx1"/>
                </a:solidFill>
              </a:rPr>
              <a:t>它不是简单的</a:t>
            </a:r>
            <a:r>
              <a:rPr lang="en-US" altLang="zh-CN" sz="6200" dirty="0">
                <a:solidFill>
                  <a:schemeClr val="tx1"/>
                </a:solidFill>
              </a:rPr>
              <a:t>"</a:t>
            </a:r>
            <a:r>
              <a:rPr lang="zh-CN" altLang="en-US" sz="6200" dirty="0">
                <a:solidFill>
                  <a:schemeClr val="tx1"/>
                </a:solidFill>
              </a:rPr>
              <a:t>看一下</a:t>
            </a:r>
            <a:r>
              <a:rPr lang="en-US" altLang="zh-CN" sz="6200" dirty="0">
                <a:solidFill>
                  <a:schemeClr val="tx1"/>
                </a:solidFill>
              </a:rPr>
              <a:t>"</a:t>
            </a:r>
            <a:r>
              <a:rPr lang="zh-CN" altLang="en-US" sz="6200" dirty="0">
                <a:solidFill>
                  <a:schemeClr val="tx1"/>
                </a:solidFill>
              </a:rPr>
              <a:t>、</a:t>
            </a:r>
            <a:r>
              <a:rPr lang="en-US" altLang="zh-CN" sz="6200" dirty="0">
                <a:solidFill>
                  <a:schemeClr val="tx1"/>
                </a:solidFill>
              </a:rPr>
              <a:t>"</a:t>
            </a:r>
            <a:r>
              <a:rPr lang="zh-CN" altLang="en-US" sz="6200" dirty="0">
                <a:solidFill>
                  <a:schemeClr val="tx1"/>
                </a:solidFill>
              </a:rPr>
              <a:t>通过了</a:t>
            </a:r>
            <a:r>
              <a:rPr lang="en-US" altLang="zh-CN" sz="6200" dirty="0">
                <a:solidFill>
                  <a:schemeClr val="tx1"/>
                </a:solidFill>
              </a:rPr>
              <a:t>"</a:t>
            </a:r>
            <a:r>
              <a:rPr lang="zh-CN" altLang="en-US" sz="6200" dirty="0">
                <a:solidFill>
                  <a:schemeClr val="tx1"/>
                </a:solidFill>
              </a:rPr>
              <a:t>，而是一个结构化的质量把关活动。</a:t>
            </a:r>
          </a:p>
          <a:p>
            <a:pPr marL="0" indent="0">
              <a:buNone/>
            </a:pPr>
            <a:endParaRPr lang="zh-CN" altLang="en-US" sz="6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6200" dirty="0">
                <a:solidFill>
                  <a:schemeClr val="tx1"/>
                </a:solidFill>
              </a:rPr>
              <a:t>评审的常见形式</a:t>
            </a:r>
          </a:p>
          <a:p>
            <a:pPr marL="0" indent="0">
              <a:buNone/>
            </a:pPr>
            <a:r>
              <a:rPr lang="zh-CN" altLang="en-US" sz="6200" dirty="0">
                <a:solidFill>
                  <a:schemeClr val="tx1"/>
                </a:solidFill>
              </a:rPr>
              <a:t>在软件项目管理中，评审有多种形式：</a:t>
            </a:r>
          </a:p>
          <a:p>
            <a:pPr marL="0" indent="0">
              <a:buNone/>
            </a:pPr>
            <a:r>
              <a:rPr lang="zh-CN" altLang="en-US" sz="6200" dirty="0">
                <a:solidFill>
                  <a:schemeClr val="tx1"/>
                </a:solidFill>
              </a:rPr>
              <a:t>第一种，代码评审。这是最常见的，团队成员之间互相检查代码，发现潜在的</a:t>
            </a:r>
            <a:r>
              <a:rPr lang="en-US" altLang="zh-CN" sz="6200" dirty="0">
                <a:solidFill>
                  <a:schemeClr val="tx1"/>
                </a:solidFill>
              </a:rPr>
              <a:t>bug</a:t>
            </a:r>
            <a:r>
              <a:rPr lang="zh-CN" altLang="en-US" sz="6200" dirty="0">
                <a:solidFill>
                  <a:schemeClr val="tx1"/>
                </a:solidFill>
              </a:rPr>
              <a:t>、逻辑错误、安全隐患。</a:t>
            </a:r>
          </a:p>
          <a:p>
            <a:pPr marL="0" indent="0">
              <a:buNone/>
            </a:pPr>
            <a:r>
              <a:rPr lang="zh-CN" altLang="en-US" sz="6200" dirty="0">
                <a:solidFill>
                  <a:schemeClr val="tx1"/>
                </a:solidFill>
              </a:rPr>
              <a:t>第二种，设计评审。在项目设计阶段，评审设计方案是否合理、是否可行、是否有更好的方案。</a:t>
            </a:r>
          </a:p>
          <a:p>
            <a:pPr marL="0" indent="0">
              <a:buNone/>
            </a:pPr>
            <a:r>
              <a:rPr lang="zh-CN" altLang="en-US" sz="6200" dirty="0">
                <a:solidFill>
                  <a:schemeClr val="tx1"/>
                </a:solidFill>
              </a:rPr>
              <a:t>第三种，文档评审。检查需求文档、设计文档、用户手册等的完整性和准确性。</a:t>
            </a:r>
          </a:p>
          <a:p>
            <a:pPr marL="0" indent="0">
              <a:buNone/>
            </a:pPr>
            <a:r>
              <a:rPr lang="zh-CN" altLang="en-US" sz="6200" dirty="0">
                <a:solidFill>
                  <a:schemeClr val="tx1"/>
                </a:solidFill>
              </a:rPr>
              <a:t>第四种，功能评审。在功能开发完成后，验证功能是否符合需求规格。</a:t>
            </a:r>
          </a:p>
          <a:p>
            <a:pPr marL="0" indent="0">
              <a:buNone/>
            </a:pPr>
            <a:r>
              <a:rPr lang="zh-CN" altLang="en-US" sz="6200" dirty="0">
                <a:solidFill>
                  <a:schemeClr val="tx1"/>
                </a:solidFill>
              </a:rPr>
              <a:t>第五种，测试评审。评估测试计划的充分性，审查测试用例的有效性。</a:t>
            </a:r>
          </a:p>
          <a:p>
            <a:pPr marL="0" indent="0">
              <a:buNone/>
            </a:pPr>
            <a:endParaRPr lang="zh-CN" altLang="en-US" sz="440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683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565201-537E-5C73-1D4C-EFDE3FEE0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2773535" cy="56477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评审的要点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CA9B70-DAD8-B7DE-3F5A-3CF645BF7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399" y="1035423"/>
            <a:ext cx="10525765" cy="538554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sz="2200" dirty="0">
                <a:solidFill>
                  <a:schemeClr val="tx1"/>
                </a:solidFill>
              </a:rPr>
              <a:t>评审的要点</a:t>
            </a:r>
          </a:p>
          <a:p>
            <a:pPr marL="0" indent="0">
              <a:buNone/>
            </a:pPr>
            <a:r>
              <a:rPr lang="zh-CN" altLang="en-US" sz="2200" dirty="0">
                <a:solidFill>
                  <a:schemeClr val="tx1"/>
                </a:solidFill>
              </a:rPr>
              <a:t>要做好评审，需要注意以下几个要点：</a:t>
            </a:r>
          </a:p>
          <a:p>
            <a:pPr marL="0" indent="0">
              <a:buNone/>
            </a:pPr>
            <a:r>
              <a:rPr lang="zh-CN" altLang="en-US" sz="2200" dirty="0">
                <a:solidFill>
                  <a:schemeClr val="tx1"/>
                </a:solidFill>
              </a:rPr>
              <a:t>第一，明确评审目标。每次评审都要有明确的目的，是检查代码质量？还是验证功能完整性？</a:t>
            </a:r>
          </a:p>
          <a:p>
            <a:pPr marL="0" indent="0">
              <a:buNone/>
            </a:pPr>
            <a:r>
              <a:rPr lang="zh-CN" altLang="en-US" sz="2200" dirty="0">
                <a:solidFill>
                  <a:schemeClr val="tx1"/>
                </a:solidFill>
              </a:rPr>
              <a:t>第二，做好充分准备。评审前要将材料提前发给评审人，让他们有时间了解情况。</a:t>
            </a:r>
          </a:p>
          <a:p>
            <a:pPr marL="0" indent="0">
              <a:buNone/>
            </a:pPr>
            <a:r>
              <a:rPr lang="zh-CN" altLang="en-US" sz="2200" dirty="0">
                <a:solidFill>
                  <a:schemeClr val="tx1"/>
                </a:solidFill>
              </a:rPr>
              <a:t>第三，确保参与人员合适。评审人应该是熟悉相关领域的专家，既不能全是新手，也不能全是领导。</a:t>
            </a:r>
          </a:p>
          <a:p>
            <a:pPr marL="0" indent="0">
              <a:buNone/>
            </a:pPr>
            <a:r>
              <a:rPr lang="zh-CN" altLang="en-US" sz="2200" dirty="0">
                <a:solidFill>
                  <a:schemeClr val="tx1"/>
                </a:solidFill>
              </a:rPr>
              <a:t>第四，采用结构化流程。按照预设的检查清单逐项审查，不能随心所欲。</a:t>
            </a:r>
          </a:p>
          <a:p>
            <a:pPr marL="0" indent="0">
              <a:buNone/>
            </a:pPr>
            <a:r>
              <a:rPr lang="zh-CN" altLang="en-US" sz="2200" dirty="0">
                <a:solidFill>
                  <a:schemeClr val="tx1"/>
                </a:solidFill>
              </a:rPr>
              <a:t>第五，详细记录问题。发现的问题要详细记录，包括问题描述、严重程度、建议解决方案。</a:t>
            </a:r>
          </a:p>
          <a:p>
            <a:pPr marL="0" indent="0">
              <a:buNone/>
            </a:pPr>
            <a:r>
              <a:rPr lang="zh-CN" altLang="en-US" sz="2200" dirty="0">
                <a:solidFill>
                  <a:schemeClr val="tx1"/>
                </a:solidFill>
              </a:rPr>
              <a:t>第六，跟踪问题改进。评审发现的问题必须有人跟进解决，不能不了了之。</a:t>
            </a:r>
          </a:p>
          <a:p>
            <a:pPr marL="0" indent="0">
              <a:buNone/>
            </a:pPr>
            <a:r>
              <a:rPr lang="zh-CN" altLang="en-US" sz="2200" dirty="0">
                <a:solidFill>
                  <a:schemeClr val="tx1"/>
                </a:solidFill>
              </a:rPr>
              <a:t>第七，持续优化评审流程。根据评审效果不断改进评审方法。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674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90EFBF-DF8D-B46A-86FF-FAE028979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奶茶店常见问题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77478D-5506-7C1C-2D23-6DCFE36360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8913" y="1436787"/>
            <a:ext cx="7974228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新品研发周期短、流程杂，缺乏进度跟踪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门店活动（节日促销、新品上线）需要多人协作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设备维护、原料采购、库存预警缺乏统一管理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员工任务分散，店长无法统一查看进度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ui-sans-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ui-sans-serif"/>
              </a:rPr>
              <a:t>日常问题（客诉、设备故障）处理不闭环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1624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717470" y="317455"/>
            <a:ext cx="9601360" cy="591158"/>
          </a:xfrm>
        </p:spPr>
        <p:txBody>
          <a:bodyPr>
            <a:no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</a:rPr>
              <a:t>以质量管理举例：</a:t>
            </a:r>
          </a:p>
          <a:p>
            <a:pPr algn="l"/>
            <a:r>
              <a:rPr lang="zh-CN" altLang="en-US" sz="2800" dirty="0"/>
              <a:t>明确每种单品详情配料表，方便伙伴查看</a:t>
            </a:r>
            <a:br>
              <a:rPr lang="en-US" altLang="zh-CN" sz="2800" dirty="0"/>
            </a:br>
            <a:r>
              <a:rPr lang="zh-CN" altLang="en-US" sz="2800" dirty="0"/>
              <a:t>新品评审须通过团队绝大多数同意，确保新品质量过关</a:t>
            </a:r>
            <a:endParaRPr lang="en-US" altLang="zh-CN" sz="2800" dirty="0"/>
          </a:p>
          <a:p>
            <a:pPr algn="l"/>
            <a:endParaRPr lang="en-US" altLang="zh-CN" sz="2800" dirty="0"/>
          </a:p>
          <a:p>
            <a:pPr algn="l"/>
            <a:r>
              <a:rPr lang="zh-CN" altLang="en-US" sz="2800" b="1" dirty="0">
                <a:solidFill>
                  <a:srgbClr val="C00000"/>
                </a:solidFill>
              </a:rPr>
              <a:t>以团队管理举例：</a:t>
            </a:r>
            <a:endParaRPr lang="en-US" altLang="zh-CN" sz="2800" b="1" dirty="0">
              <a:solidFill>
                <a:srgbClr val="C00000"/>
              </a:solidFill>
            </a:endParaRPr>
          </a:p>
          <a:p>
            <a:pPr algn="l"/>
            <a:r>
              <a:rPr lang="zh-CN" altLang="en-US" sz="2800" dirty="0"/>
              <a:t>设置打卡机制，让伙伴工作信息透明化</a:t>
            </a:r>
            <a:endParaRPr lang="en-US" altLang="zh-CN" sz="2800" b="1" dirty="0">
              <a:solidFill>
                <a:srgbClr val="C00000"/>
              </a:solidFill>
            </a:endParaRPr>
          </a:p>
          <a:p>
            <a:pPr algn="l"/>
            <a:r>
              <a:rPr lang="zh-CN" altLang="en-US" sz="2800" dirty="0"/>
              <a:t>系统自动提醒库存情况</a:t>
            </a:r>
            <a:endParaRPr lang="zh-CN" altLang="en-US" sz="2800" b="1" dirty="0">
              <a:solidFill>
                <a:srgbClr val="C00000"/>
              </a:solidFill>
            </a:endParaRPr>
          </a:p>
          <a:p>
            <a:pPr algn="l"/>
            <a:r>
              <a:rPr lang="zh-CN" altLang="en-US" sz="2800" dirty="0"/>
              <a:t>店长设置每人任务量，确保任务量基本相等</a:t>
            </a:r>
          </a:p>
          <a:p>
            <a:pPr algn="l"/>
            <a:r>
              <a:rPr lang="zh-CN" altLang="en-US" sz="2800" dirty="0"/>
              <a:t>自动检测伙伴任务完成效率、评审的要点</a:t>
            </a:r>
          </a:p>
          <a:p>
            <a:pPr algn="l"/>
            <a:r>
              <a:rPr lang="zh-CN" altLang="en-US" sz="2800" dirty="0"/>
              <a:t>推进项目落地</a:t>
            </a:r>
          </a:p>
          <a:p>
            <a:pPr algn="l"/>
            <a:r>
              <a:rPr lang="zh-CN" altLang="en-US" sz="2800" dirty="0"/>
              <a:t>轻量化社交</a:t>
            </a:r>
          </a:p>
          <a:p>
            <a:pPr algn="l"/>
            <a:endParaRPr lang="zh-CN" altLang="en-US" sz="28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717470" y="317455"/>
            <a:ext cx="3430948" cy="1195339"/>
          </a:xfrm>
        </p:spPr>
        <p:txBody>
          <a:bodyPr>
            <a:noAutofit/>
          </a:bodyPr>
          <a:lstStyle/>
          <a:p>
            <a:pPr algn="l"/>
            <a:r>
              <a:rPr lang="zh-CN" altLang="en-US" sz="2800" dirty="0">
                <a:solidFill>
                  <a:schemeClr val="tx1"/>
                </a:solidFill>
              </a:rPr>
              <a:t>奶茶店项目管理系统</a:t>
            </a:r>
            <a:r>
              <a:rPr lang="en-US" altLang="zh-CN" sz="2800" dirty="0">
                <a:solidFill>
                  <a:schemeClr val="tx1"/>
                </a:solidFill>
              </a:rPr>
              <a:t>-</a:t>
            </a:r>
            <a:r>
              <a:rPr lang="zh-CN" altLang="en-US" sz="2800" dirty="0">
                <a:solidFill>
                  <a:schemeClr val="tx1"/>
                </a:solidFill>
              </a:rPr>
              <a:t>任务评审流程图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3E8ECE7-CEA2-1337-5D1A-8F0F45D1E9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437" y="0"/>
            <a:ext cx="5137016" cy="679248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706FF-8599-81C1-B6D5-1E9CE26B4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241" y="837000"/>
            <a:ext cx="2235653" cy="882000"/>
          </a:xfrm>
        </p:spPr>
        <p:txBody>
          <a:bodyPr/>
          <a:lstStyle/>
          <a:p>
            <a:r>
              <a:rPr lang="zh-CN" altLang="en-US" dirty="0"/>
              <a:t>谢谢观看</a:t>
            </a:r>
          </a:p>
        </p:txBody>
      </p:sp>
    </p:spTree>
    <p:extLst>
      <p:ext uri="{BB962C8B-B14F-4D97-AF65-F5344CB8AC3E}">
        <p14:creationId xmlns:p14="http://schemas.microsoft.com/office/powerpoint/2010/main" val="92975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766</Words>
  <Application>Microsoft Office PowerPoint</Application>
  <PresentationFormat>宽屏</PresentationFormat>
  <Paragraphs>67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Arial</vt:lpstr>
      <vt:lpstr>Wingdings</vt:lpstr>
      <vt:lpstr>WPS</vt:lpstr>
      <vt:lpstr>茶铺管理系统</vt:lpstr>
      <vt:lpstr>奶茶锐评</vt:lpstr>
      <vt:lpstr>选择计划的理由</vt:lpstr>
      <vt:lpstr>什么是评审</vt:lpstr>
      <vt:lpstr>评审的要点 </vt:lpstr>
      <vt:lpstr>奶茶店常见问题</vt:lpstr>
      <vt:lpstr>PowerPoint 演示文稿</vt:lpstr>
      <vt:lpstr>PowerPoint 演示文稿</vt:lpstr>
      <vt:lpstr>谢谢观看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jpw Bill</cp:lastModifiedBy>
  <cp:revision>161</cp:revision>
  <dcterms:created xsi:type="dcterms:W3CDTF">2019-06-19T02:08:00Z</dcterms:created>
  <dcterms:modified xsi:type="dcterms:W3CDTF">2026-04-23T02:49:32Z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D760EB73163B409EA9842E31E50D03B1_11</vt:lpwstr>
  </property>
</Properties>
</file>